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the project: AlaToo GPT, an AI academic advisor for career and program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faces of the problem: uncertainty, faculty transfers, and graduates not working in their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goal and six objectives that structure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pillars: a personal profile from the test, and factual answers grounded in university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channels are thin adapters to one API and one LangGraph dialog graph; Qdrant stores knowledge, SQLite stores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LangGraph routes each message and records a trace, giving explainability and easy extension.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modern, production-oriented stack; each component has a clear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every dimension the new system clearly surpasses the 2024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deliverables achieved by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channels, local LLM, sustainable data updates, campus-wide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contribution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Thank the committee, invite questions, point to the live system via the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3017520"/>
            <a:ext cx="1627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400" b="1">
                <a:solidFill>
                  <a:srgbClr val="7B2C29"/>
                </a:solidFill>
                <a:latin typeface="Calibri"/>
              </a:rPr>
              <a:t>AlaToo 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846320"/>
            <a:ext cx="1627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500"/>
              </a:spcAft>
            </a:pPr>
            <a:r>
              <a:rPr sz="3000" b="1">
                <a:solidFill>
                  <a:srgbClr val="7B2C29"/>
                </a:solidFill>
                <a:latin typeface="Calibri"/>
              </a:rPr>
              <a:t>Intelligent Academic Advisor for Career and Program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680960"/>
            <a:ext cx="1627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000" b="0">
                <a:solidFill>
                  <a:srgbClr val="5A4F4D"/>
                </a:solidFill>
                <a:latin typeface="Calibri"/>
              </a:rPr>
              <a:t>Student:  </a:t>
            </a:r>
            <a:r>
              <a:rPr sz="2000" b="1">
                <a:solidFill>
                  <a:srgbClr val="3D2E2C"/>
                </a:solidFill>
                <a:latin typeface="Calibri"/>
              </a:rPr>
              <a:t>Isa Kasymbek uulu</a:t>
            </a:r>
          </a:p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2000" b="0">
                <a:solidFill>
                  <a:srgbClr val="5A4F4D"/>
                </a:solidFill>
                <a:latin typeface="Calibri"/>
              </a:rPr>
              <a:t>Supervisor:  </a:t>
            </a:r>
            <a:r>
              <a:rPr sz="2000" b="1">
                <a:solidFill>
                  <a:srgbClr val="3D2E2C"/>
                </a:solidFill>
                <a:latin typeface="Calibri"/>
              </a:rPr>
              <a:t>Dr. Tauheed Khan</a:t>
            </a:r>
          </a:p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0">
                <a:solidFill>
                  <a:srgbClr val="9B8E8B"/>
                </a:solidFill>
                <a:latin typeface="Calibri"/>
              </a:rPr>
              <a:t>Ala-Too International University  ·  Bishkek,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E8C9C6"/>
                </a:solidFill>
                <a:latin typeface="Calibri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310896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56616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400" b="1">
                <a:solidFill>
                  <a:srgbClr val="7B2C2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75488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Uncertainty in choosing a major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621792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C9C6"/>
                </a:solidFill>
                <a:latin typeface="Calibri"/>
              </a:rPr>
              <a:t>Applicants don't know their strengths and interests, so they pick the wrong field.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10896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80" y="356616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400" b="1">
                <a:solidFill>
                  <a:srgbClr val="7B2C2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75488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Frequent transfers between faculties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621792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C9C6"/>
                </a:solidFill>
                <a:latin typeface="Calibri"/>
              </a:rPr>
              <a:t>A wrong initial choice leads to transfers, lost time and money.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0" y="310896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618720" y="356616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0" y="356616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400" b="1">
                <a:solidFill>
                  <a:srgbClr val="7B2C29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0" y="475488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Graduates not in their field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0" y="621792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C9C6"/>
                </a:solidFill>
                <a:latin typeface="Calibri"/>
              </a:rPr>
              <a:t>Many end up working outside their specialty.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C9C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GOAL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What the system sets out to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468880"/>
            <a:ext cx="16276320" cy="13716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468880"/>
            <a:ext cx="15361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7B2C29"/>
                </a:solidFill>
                <a:latin typeface="Calibri"/>
              </a:rPr>
              <a:t>Goal:  </a:t>
            </a:r>
            <a:r>
              <a:rPr sz="2200" b="0">
                <a:solidFill>
                  <a:srgbClr val="3D2E2C"/>
                </a:solidFill>
                <a:latin typeface="Calibri"/>
              </a:rPr>
              <a:t>design an AI academic-advising system that guides students to informed decisions about programs and careers.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297680"/>
            <a:ext cx="7772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4544568"/>
            <a:ext cx="603504" cy="603504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5445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297680"/>
            <a:ext cx="6492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Identify the student decision-making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4297680"/>
            <a:ext cx="7772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0" y="4544568"/>
            <a:ext cx="603504" cy="603504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45445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4297680"/>
            <a:ext cx="6492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Justify the use of the RIASEC career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623560"/>
            <a:ext cx="7772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5870448"/>
            <a:ext cx="603504" cy="603504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8704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623560"/>
            <a:ext cx="6492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Design a two-entry system: test + chat (RAG)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5623560"/>
            <a:ext cx="7772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0" y="5870448"/>
            <a:ext cx="603504" cy="603504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587044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5623560"/>
            <a:ext cx="6492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Describe a RAG architecture over university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6949440"/>
            <a:ext cx="7772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7196327"/>
            <a:ext cx="603504" cy="603504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7196327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6949440"/>
            <a:ext cx="6492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Orchestrate the dialog with a single graph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6949440"/>
            <a:ext cx="7772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0" y="7196327"/>
            <a:ext cx="603504" cy="603504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7196327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949440"/>
            <a:ext cx="6492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Compare the new system with the 2024 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An advisor that knows you — and knows the university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926080"/>
            <a:ext cx="77724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3474720"/>
            <a:ext cx="914400" cy="914400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34747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66344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700" b="1">
                <a:solidFill>
                  <a:srgbClr val="7B2C29"/>
                </a:solidFill>
                <a:latin typeface="Calibri"/>
              </a:rPr>
              <a:t>Know the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55778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000" b="0">
                <a:solidFill>
                  <a:srgbClr val="5A4F4D"/>
                </a:solidFill>
                <a:latin typeface="Calibri"/>
              </a:rPr>
              <a:t>A RIASEC career-interest test (Holland model) builds a personal profile and maps it to suitable programs.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926080"/>
            <a:ext cx="777240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3474720"/>
            <a:ext cx="914400" cy="914400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47472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4663440"/>
            <a:ext cx="6675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700" b="1">
                <a:solidFill>
                  <a:srgbClr val="7B2C29"/>
                </a:solidFill>
                <a:latin typeface="Calibri"/>
              </a:rPr>
              <a:t>Know the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55778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2000" b="0">
                <a:solidFill>
                  <a:srgbClr val="5A4F4D"/>
                </a:solidFill>
                <a:latin typeface="Calibri"/>
              </a:rPr>
              <a:t>An AI consultant answers questions about programs, admission and tuition — grounded in the university's real materials (RAG).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1627632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1905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6276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Channels   ·   Web chat · OpenWebUI · Telegram · WhatsApp · Instagram/Facebook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3611880"/>
            <a:ext cx="0" cy="502920"/>
          </a:xfrm>
          <a:prstGeom prst="bentConnector3">
            <a:avLst/>
          </a:prstGeom>
          <a:ln w="31750">
            <a:solidFill>
              <a:srgbClr val="7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217920" y="416052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19050">
            <a:solidFill>
              <a:srgbClr val="7B2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4160520"/>
            <a:ext cx="5852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Single REST API  (FastAPI)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0" y="5120640"/>
            <a:ext cx="0" cy="457200"/>
          </a:xfrm>
          <a:prstGeom prst="bentConnector3">
            <a:avLst/>
          </a:prstGeom>
          <a:ln w="31750">
            <a:solidFill>
              <a:srgbClr val="7B2C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5623560"/>
            <a:ext cx="11887200" cy="18288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9050">
            <a:solidFill>
              <a:srgbClr val="7B2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5715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7B2C29"/>
                </a:solidFill>
                <a:latin typeface="Calibri"/>
              </a:rPr>
              <a:t>Dialog graph — 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26179" y="617220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B2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6179" y="6172200"/>
            <a:ext cx="2468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5100" y="617220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B2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6172200"/>
            <a:ext cx="2468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4020" y="617220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B2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4020" y="6172200"/>
            <a:ext cx="2468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RIASEC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92940" y="617220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B2C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92940" y="6172200"/>
            <a:ext cx="24688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General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781812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781812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Qdrant — vector knowledge 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781812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7818120"/>
            <a:ext cx="7772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SQLite — logs · results · traces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FEATURE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Career interest test (RIASEC)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651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651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Holland model — 6 interest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794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794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794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60 items, adapted from O*NET, in ru / ky / 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4937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937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Builds a Holland code (e.g. SAE)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6080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6080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6080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Maps the profile to Ala-Too programs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7223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7223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7223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Exports results to 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651760"/>
            <a:ext cx="7772400" cy="585216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5212080"/>
            <a:ext cx="7772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B8E8B"/>
                </a:solidFill>
                <a:latin typeface="Calibri"/>
              </a:rPr>
              <a:t>[ Screenshot: test results page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FEATURE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AI consultant (RAG)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651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651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Answers about programs, admission, tuition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794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794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794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Grounded in the university's real materials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4937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937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Cites sources, streams the answer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6080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6080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6080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Remembers the test profile for personal advice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651760"/>
            <a:ext cx="7772400" cy="585216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5212080"/>
            <a:ext cx="7772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B8E8B"/>
                </a:solidFill>
                <a:latin typeface="Calibri"/>
              </a:rPr>
              <a:t>[ Screenshot: chat consultation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E8C9C6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Dialog orchestration with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92608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7040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 router classifies every user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02336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4023360"/>
            <a:ext cx="7040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Routes to the RAG, RIASEC or general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12064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5120640"/>
            <a:ext cx="7040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Every step is recorded as a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621792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6217920"/>
            <a:ext cx="7040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Explainable, measurable and easy to extend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29260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 w="15875">
            <a:solidFill>
              <a:srgbClr val="E8C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0" y="2926080"/>
            <a:ext cx="2743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893040" y="3840480"/>
            <a:ext cx="0" cy="457200"/>
          </a:xfrm>
          <a:prstGeom prst="bentConnector3">
            <a:avLst/>
          </a:prstGeom>
          <a:ln w="31750">
            <a:solidFill>
              <a:srgbClr val="E8C9C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09759" y="43891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 w="15875">
            <a:solidFill>
              <a:srgbClr val="E8C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9" y="438912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978639" y="43891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 w="15875">
            <a:solidFill>
              <a:srgbClr val="E8C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78639" y="438912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RIASEC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447519" y="43891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 w="15875">
            <a:solidFill>
              <a:srgbClr val="E8C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19" y="4389120"/>
            <a:ext cx="2194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C9C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CONTROL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Seen and steered from the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651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651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651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Admin dashboard hosted on the 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794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794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794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Per-dialog routing traces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37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4937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937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Intent and Holland-code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6080760"/>
            <a:ext cx="78638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6080760"/>
            <a:ext cx="146304" cy="960120"/>
          </a:xfrm>
          <a:prstGeom prst="rect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6080760"/>
            <a:ext cx="7132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0">
                <a:solidFill>
                  <a:srgbClr val="3D2E2C"/>
                </a:solidFill>
                <a:latin typeface="Calibri"/>
              </a:rPr>
              <a:t>Test-to-consultation conversion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651760"/>
            <a:ext cx="7772400" cy="585216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5212080"/>
            <a:ext cx="7772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0">
                <a:solidFill>
                  <a:srgbClr val="9B8E8B"/>
                </a:solidFill>
                <a:latin typeface="Calibri"/>
              </a:rPr>
              <a:t>[ Screenshot: admin analytics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74320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30632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7B2C29"/>
                </a:solidFill>
                <a:latin typeface="Calibri"/>
              </a:rPr>
              <a:t>Python ·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7947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>
                <a:solidFill>
                  <a:srgbClr val="5A4F4D"/>
                </a:solidFill>
                <a:latin typeface="Calibri"/>
              </a:rPr>
              <a:t>Backend &amp; streaming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74320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30632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7B2C29"/>
                </a:solidFill>
                <a:latin typeface="Calibri"/>
              </a:rP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7947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>
                <a:solidFill>
                  <a:srgbClr val="5A4F4D"/>
                </a:solidFill>
                <a:latin typeface="Calibri"/>
              </a:rPr>
              <a:t>Dialog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0" y="274320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73000" y="306324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7B2C29"/>
                </a:solidFill>
                <a:latin typeface="Calibri"/>
              </a:rPr>
              <a:t>LangChain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3000" y="379476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>
                <a:solidFill>
                  <a:srgbClr val="5A4F4D"/>
                </a:solidFill>
                <a:latin typeface="Calibri"/>
              </a:rPr>
              <a:t>Document loading &amp; chunking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21208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553212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7B2C29"/>
                </a:solidFill>
                <a:latin typeface="Calibri"/>
              </a:rPr>
              <a:t>Qdrant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2636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>
                <a:solidFill>
                  <a:srgbClr val="5A4F4D"/>
                </a:solidFill>
                <a:latin typeface="Calibri"/>
              </a:rPr>
              <a:t>Vector 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521208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553212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7B2C29"/>
                </a:solidFill>
                <a:latin typeface="Calibri"/>
              </a:rPr>
              <a:t>BGE-M3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62636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>
                <a:solidFill>
                  <a:srgbClr val="5A4F4D"/>
                </a:solidFill>
                <a:latin typeface="Calibri"/>
              </a:rPr>
              <a:t>Multilingual search (ru/ky/en)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61520" y="521208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73000" y="5532120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300" b="1">
                <a:solidFill>
                  <a:srgbClr val="7B2C29"/>
                </a:solidFill>
                <a:latin typeface="Calibri"/>
              </a:rPr>
              <a:t>Docker · VPS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0" y="626364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>
                <a:solidFill>
                  <a:srgbClr val="5A4F4D"/>
                </a:solidFill>
                <a:latin typeface="Calibri"/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New system vs. the 2024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7432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0" y="27432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274320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2024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0" y="27432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0" y="274320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New system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6576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7B2C29"/>
                </a:solidFill>
                <a:latin typeface="Calibri"/>
              </a:rP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657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5A4F4D"/>
                </a:solidFill>
                <a:latin typeface="Calibri"/>
              </a:rPr>
              <a:t>Basic Klimov, chat-only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0" y="36576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0" y="365760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3D2E2C"/>
                </a:solidFill>
                <a:latin typeface="Calibri"/>
              </a:rPr>
              <a:t>RIASEC (O*NET), web +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5720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572000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7B2C29"/>
                </a:solidFill>
                <a:latin typeface="Calibri"/>
              </a:rPr>
              <a:t>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5720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57200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5A4F4D"/>
                </a:solidFill>
                <a:latin typeface="Calibri"/>
              </a:rPr>
              <a:t>LLM only, no grounding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45720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0" y="457200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3D2E2C"/>
                </a:solidFill>
                <a:latin typeface="Calibri"/>
              </a:rPr>
              <a:t>RAG over university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4864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486400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7B2C29"/>
                </a:solidFill>
                <a:latin typeface="Calibri"/>
              </a:rPr>
              <a:t>Languages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4864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48640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5A4F4D"/>
                </a:solidFill>
                <a:latin typeface="Calibri"/>
              </a:rPr>
              <a:t>Limited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54864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0" y="548640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3D2E2C"/>
                </a:solidFill>
                <a:latin typeface="Calibri"/>
              </a:rPr>
              <a:t>Russian · Kyrgyz · English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64008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6400800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7B2C29"/>
                </a:solidFill>
                <a:latin typeface="Calibri"/>
              </a:rPr>
              <a:t>Orchestration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6400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640080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5A4F4D"/>
                </a:solidFill>
                <a:latin typeface="Calibri"/>
              </a:rPr>
              <a:t>None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64008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0E6E4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0" y="640080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3D2E2C"/>
                </a:solidFill>
                <a:latin typeface="Calibri"/>
              </a:rPr>
              <a:t>LangGraph + traces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73152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7315200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1">
                <a:solidFill>
                  <a:srgbClr val="7B2C29"/>
                </a:solidFill>
                <a:latin typeface="Calibri"/>
              </a:rPr>
              <a:t>Insight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73152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7315200"/>
            <a:ext cx="5029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5A4F4D"/>
                </a:solidFill>
                <a:latin typeface="Calibri"/>
              </a:rPr>
              <a:t>No analytics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73152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04320" y="7315200"/>
            <a:ext cx="5394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800" b="0">
                <a:solidFill>
                  <a:srgbClr val="3D2E2C"/>
                </a:solidFill>
                <a:latin typeface="Calibri"/>
              </a:rPr>
              <a:t>Dashboard &amp; conversion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E8C9C6"/>
                </a:solidFill>
                <a:latin typeface="Calibri"/>
              </a:rPr>
              <a:t>WHAT WAS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A working, explainable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926080"/>
            <a:ext cx="7772400" cy="201168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33375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33375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7B2C29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24612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Multilingual RIASEC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02336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E8C9C6"/>
                </a:solidFill>
                <a:latin typeface="Calibri"/>
              </a:rPr>
              <a:t>60 items in ru/ky/en, Holland code, program mapping, PDF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926080"/>
            <a:ext cx="7772400" cy="201168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55480" y="333756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33375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7B2C29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324612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Grounded AI consultation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02336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E8C9C6"/>
                </a:solidFill>
                <a:latin typeface="Calibri"/>
              </a:rPr>
              <a:t>RAG over the university knowledge base, with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303520"/>
            <a:ext cx="7772400" cy="201168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17320" y="571500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5715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7B2C29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62356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Single LangGraph dialog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640080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E8C9C6"/>
                </a:solidFill>
                <a:latin typeface="Calibri"/>
              </a:rPr>
              <a:t>Routing + traceability for every conversation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5303520"/>
            <a:ext cx="7772400" cy="2011680"/>
          </a:xfrm>
          <a:prstGeom prst="roundRect">
            <a:avLst>
              <a:gd name="adj" fmla="val 6000"/>
            </a:avLst>
          </a:prstGeom>
          <a:solidFill>
            <a:srgbClr val="5E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55480" y="571500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57150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7B2C29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562356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Deployed and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40080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600" b="0">
                <a:solidFill>
                  <a:srgbClr val="E8C9C6"/>
                </a:solidFill>
                <a:latin typeface="Calibri"/>
              </a:rPr>
              <a:t>Dockerized on a VPS, with a web 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C9C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Future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743200"/>
            <a:ext cx="7772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3154680"/>
            <a:ext cx="713232" cy="713232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5468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301752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7B2C29"/>
                </a:solidFill>
                <a:latin typeface="Calibri"/>
              </a:rPr>
              <a:t>Social-media 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65760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5A4F4D"/>
                </a:solidFill>
                <a:latin typeface="Calibri"/>
              </a:rPr>
              <a:t>Telegram, WhatsApp, Instagram on the same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743200"/>
            <a:ext cx="7772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9760" y="3154680"/>
            <a:ext cx="713232" cy="713232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315468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301752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7B2C29"/>
                </a:solidFill>
                <a:latin typeface="Calibri"/>
              </a:rPr>
              <a:t>Local LLM (on-premise)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365760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5A4F4D"/>
                </a:solidFill>
                <a:latin typeface="Calibri"/>
              </a:rPr>
              <a:t>Full independence and data 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80560"/>
            <a:ext cx="7772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0" y="4892040"/>
            <a:ext cx="713232" cy="713232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9204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75488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7B2C29"/>
                </a:solidFill>
                <a:latin typeface="Calibri"/>
              </a:rPr>
              <a:t>Sustainable data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5A4F4D"/>
                </a:solidFill>
                <a:latin typeface="Calibri"/>
              </a:rPr>
              <a:t>Manual + automatic refresh so the project stays current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480560"/>
            <a:ext cx="7772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0" y="4892040"/>
            <a:ext cx="713232" cy="713232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489204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475488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7B2C29"/>
                </a:solidFill>
                <a:latin typeface="Calibri"/>
              </a:rPr>
              <a:t>For the whole campus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539496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5A4F4D"/>
                </a:solidFill>
                <a:latin typeface="Calibri"/>
              </a:rPr>
              <a:t>Features for students, teachers and administration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6217920"/>
            <a:ext cx="77724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6629400"/>
            <a:ext cx="713232" cy="713232"/>
          </a:xfrm>
          <a:prstGeom prst="ellipse">
            <a:avLst/>
          </a:prstGeom>
          <a:solidFill>
            <a:srgbClr val="7B2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62940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6492240"/>
            <a:ext cx="6309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7B2C29"/>
                </a:solidFill>
                <a:latin typeface="Calibri"/>
              </a:rPr>
              <a:t>Deeper personalization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713232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>
                <a:solidFill>
                  <a:srgbClr val="5A4F4D"/>
                </a:solidFill>
                <a:latin typeface="Calibri"/>
              </a:rPr>
              <a:t>Memory and accounts for returning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1627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900" b="1">
                <a:solidFill>
                  <a:srgbClr val="7B2C29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6276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600" b="1">
                <a:solidFill>
                  <a:srgbClr val="7B2C29"/>
                </a:solidFill>
                <a:latin typeface="Calibri"/>
              </a:rPr>
              <a:t>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627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2700" b="0">
                <a:solidFill>
                  <a:srgbClr val="3D2E2C"/>
                </a:solidFill>
                <a:latin typeface="Calibri"/>
              </a:rPr>
              <a:t>AlaToo GPT turns a stressful, lonely decision into a guided conversation — personal through the RIASEC test, factual through retrieval over the university knowledge base, and orchestrated by a single, explainable dialog graph. The system is multilingual, deployed and live, and ready to grow into a campus-wide academic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9646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9B8E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2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329184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9377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2600" b="0">
                <a:solidFill>
                  <a:srgbClr val="E8C9C6"/>
                </a:solidFill>
                <a:latin typeface="Calibri"/>
              </a:rPr>
              <a:t>Questions are welcome.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5895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Isa Kasymbek uulu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E8C9C6"/>
                </a:solidFill>
                <a:latin typeface="Calibri"/>
              </a:rPr>
              <a:t>Ala-Too International University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Try it live:  chat.alatoogpt.xyz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50240" y="329184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r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0280" y="3611880"/>
            <a:ext cx="30175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50240" y="70866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E8C9C6"/>
                </a:solidFill>
                <a:latin typeface="Calibri"/>
              </a:rPr>
              <a:t>chat.alatoogpt.xyz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