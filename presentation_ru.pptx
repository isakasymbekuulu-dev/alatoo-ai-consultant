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ans Bold" charset="1" panose="020B0802040504020204"/>
      <p:regular r:id="rId18"/>
    </p:embeddedFont>
    <p:embeddedFont>
      <p:font typeface="Fira Sans Heavy" charset="1" panose="020B0A03050000020004"/>
      <p:regular r:id="rId19"/>
    </p:embeddedFont>
    <p:embeddedFont>
      <p:font typeface="Noto Sans" charset="1" panose="020B0502040504020204"/>
      <p:regular r:id="rId20"/>
    </p:embeddedFont>
    <p:embeddedFont>
      <p:font typeface="Fira Sans" charset="1" panose="020B0503050000020004"/>
      <p:regular r:id="rId21"/>
    </p:embeddedFont>
    <p:embeddedFont>
      <p:font typeface="Fira Sans Bold" charset="1" panose="020B080305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724" y="4312868"/>
            <a:ext cx="11810552" cy="157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1"/>
              </a:lnSpc>
            </a:pPr>
            <a:r>
              <a:rPr lang="en-US" b="true" sz="452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Intelligent</a:t>
            </a:r>
            <a:r>
              <a:rPr lang="en-US" b="true" sz="452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Academic Advisor for Career and Program Selection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78281" y="1690255"/>
            <a:ext cx="6731439" cy="17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59"/>
              </a:lnSpc>
              <a:spcBef>
                <a:spcPct val="0"/>
              </a:spcBef>
            </a:pPr>
            <a:r>
              <a:rPr lang="en-US" b="true" sz="10337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AlaToo GPT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236077"/>
            <a:ext cx="11810552" cy="102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3000">
                <a:solidFill>
                  <a:srgbClr val="7B2C29"/>
                </a:solidFill>
                <a:latin typeface="Noto Sans"/>
                <a:ea typeface="Noto Sans"/>
                <a:cs typeface="Noto Sans"/>
                <a:sym typeface="Noto Sans"/>
              </a:rPr>
              <a:t>Student:</a:t>
            </a:r>
            <a:r>
              <a:rPr lang="en-US" sz="3000">
                <a:solidFill>
                  <a:srgbClr val="7B2C29"/>
                </a:solidFill>
                <a:latin typeface="Noto Sans"/>
                <a:ea typeface="Noto Sans"/>
                <a:cs typeface="Noto Sans"/>
                <a:sym typeface="Noto Sans"/>
              </a:rPr>
              <a:t> Isa Kasymbek uulu</a:t>
            </a:r>
          </a:p>
          <a:p>
            <a:pPr algn="l">
              <a:lnSpc>
                <a:spcPts val="4176"/>
              </a:lnSpc>
            </a:pPr>
            <a:r>
              <a:rPr lang="en-US" sz="3000">
                <a:solidFill>
                  <a:srgbClr val="7B2C29"/>
                </a:solidFill>
                <a:latin typeface="Noto Sans"/>
                <a:ea typeface="Noto Sans"/>
                <a:cs typeface="Noto Sans"/>
                <a:sym typeface="Noto Sans"/>
              </a:rPr>
              <a:t>Supervisor: Dr.Tauheed Khan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7B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0098" y="809625"/>
            <a:ext cx="7187803" cy="205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41"/>
              </a:lnSpc>
              <a:spcBef>
                <a:spcPct val="0"/>
              </a:spcBef>
            </a:pPr>
            <a:r>
              <a:rPr lang="en-US" b="true" sz="1204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Problems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4300" y="5057775"/>
            <a:ext cx="12579400" cy="22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Uncertainty in Choosing a Major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 and Faculty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Frequent Transfers Between Faculties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Graduates Not Working in Their Field of Study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3651" y="5057775"/>
            <a:ext cx="12320697" cy="306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Career Orientation Tests (RIASEC)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Personalized Training Program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 Recommendations Based on Test Results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Focus on Ala-Too University Programs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83843" y="1125573"/>
            <a:ext cx="6320314" cy="203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6"/>
              </a:lnSpc>
              <a:spcBef>
                <a:spcPct val="0"/>
              </a:spcBef>
            </a:pPr>
            <a:r>
              <a:rPr lang="en-US" b="true" sz="1199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</a:t>
            </a:r>
            <a:r>
              <a:rPr lang="en-US" b="true" sz="1199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2576" y="800100"/>
            <a:ext cx="8502848" cy="20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19"/>
              </a:lnSpc>
              <a:spcBef>
                <a:spcPct val="0"/>
              </a:spcBef>
            </a:pPr>
            <a:r>
              <a:rPr lang="en-US" b="true" sz="12037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Project Goal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5139" y="4389594"/>
            <a:ext cx="10850285" cy="22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Help applicants choose the right major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Simp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lify th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 decision-making process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Provide accessible online consultation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60195" y="5143500"/>
            <a:ext cx="5727805" cy="5143500"/>
          </a:xfrm>
          <a:custGeom>
            <a:avLst/>
            <a:gdLst/>
            <a:ahLst/>
            <a:cxnLst/>
            <a:rect r="r" b="b" t="t" l="l"/>
            <a:pathLst>
              <a:path h="5143500" w="5727805">
                <a:moveTo>
                  <a:pt x="0" y="0"/>
                </a:moveTo>
                <a:lnTo>
                  <a:pt x="5727805" y="0"/>
                </a:lnTo>
                <a:lnTo>
                  <a:pt x="572780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606" r="-2941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1477359"/>
          </a:xfrm>
          <a:custGeom>
            <a:avLst/>
            <a:gdLst/>
            <a:ahLst/>
            <a:cxnLst/>
            <a:rect r="r" b="b" t="t" l="l"/>
            <a:pathLst>
              <a:path h="11477359" w="18288000">
                <a:moveTo>
                  <a:pt x="0" y="0"/>
                </a:moveTo>
                <a:lnTo>
                  <a:pt x="18288000" y="0"/>
                </a:lnTo>
                <a:lnTo>
                  <a:pt x="18288000" y="11477359"/>
                </a:lnTo>
                <a:lnTo>
                  <a:pt x="0" y="114773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0" r="-369" b="-69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8721" y="838200"/>
            <a:ext cx="12750558" cy="17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59"/>
              </a:lnSpc>
              <a:spcBef>
                <a:spcPct val="0"/>
              </a:spcBef>
            </a:pPr>
            <a:r>
              <a:rPr lang="en-US" b="true" sz="10337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System 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20732"/>
            <a:ext cx="5337568" cy="5337568"/>
          </a:xfrm>
          <a:custGeom>
            <a:avLst/>
            <a:gdLst/>
            <a:ahLst/>
            <a:cxnLst/>
            <a:rect r="r" b="b" t="t" l="l"/>
            <a:pathLst>
              <a:path h="5337568" w="5337568">
                <a:moveTo>
                  <a:pt x="0" y="0"/>
                </a:moveTo>
                <a:lnTo>
                  <a:pt x="5337568" y="0"/>
                </a:lnTo>
                <a:lnTo>
                  <a:pt x="5337568" y="5337568"/>
                </a:lnTo>
                <a:lnTo>
                  <a:pt x="0" y="533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7613" y="838200"/>
            <a:ext cx="10212774" cy="171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2"/>
              </a:lnSpc>
              <a:spcBef>
                <a:spcPct val="0"/>
              </a:spcBef>
            </a:pPr>
            <a:r>
              <a:rPr lang="en-US" b="true" sz="10038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C</a:t>
            </a:r>
            <a:r>
              <a:rPr lang="en-US" b="true" sz="10038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areer Test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1840" y="4627786"/>
            <a:ext cx="9545003" cy="383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Based on Holland Code model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Identifies persona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lity typ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es: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Realistic, Investigative, Artistic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Social, Enterprising, Conventional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Used to guide major selection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1840" y="2426058"/>
            <a:ext cx="3124319" cy="109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  <a:spcBef>
                <a:spcPct val="0"/>
              </a:spcBef>
            </a:pPr>
            <a:r>
              <a:rPr lang="en-US" b="true" sz="6399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(RIASEC)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46513" y="3645513"/>
            <a:ext cx="5612787" cy="5612787"/>
          </a:xfrm>
          <a:custGeom>
            <a:avLst/>
            <a:gdLst/>
            <a:ahLst/>
            <a:cxnLst/>
            <a:rect r="r" b="b" t="t" l="l"/>
            <a:pathLst>
              <a:path h="5612787" w="5612787">
                <a:moveTo>
                  <a:pt x="0" y="0"/>
                </a:moveTo>
                <a:lnTo>
                  <a:pt x="5612787" y="0"/>
                </a:lnTo>
                <a:lnTo>
                  <a:pt x="5612787" y="5612787"/>
                </a:lnTo>
                <a:lnTo>
                  <a:pt x="0" y="561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991758" y="5057775"/>
            <a:ext cx="12320697" cy="229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Answ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ers user questions</a:t>
            </a:r>
          </a:p>
          <a:p>
            <a:pPr algn="r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Explains r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ecommended majors</a:t>
            </a:r>
          </a:p>
          <a:p>
            <a:pPr algn="r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Provides guidance about admission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2531" y="1125573"/>
            <a:ext cx="13022938" cy="203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6"/>
              </a:lnSpc>
              <a:spcBef>
                <a:spcPct val="0"/>
              </a:spcBef>
            </a:pPr>
            <a:r>
              <a:rPr lang="en-US" b="true" sz="1199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Cha</a:t>
            </a:r>
            <a:r>
              <a:rPr lang="en-US" b="true" sz="1199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01929" y="7581927"/>
            <a:ext cx="7127010" cy="152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11"/>
              </a:lnSpc>
            </a:pPr>
            <a:r>
              <a:rPr lang="en-US" sz="4400" b="true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Login: guest@gmail.com</a:t>
            </a:r>
          </a:p>
          <a:p>
            <a:pPr algn="r">
              <a:lnSpc>
                <a:spcPts val="6111"/>
              </a:lnSpc>
              <a:spcBef>
                <a:spcPct val="0"/>
              </a:spcBef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Password: guest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7B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65862" y="800100"/>
            <a:ext cx="7356277" cy="20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19"/>
              </a:lnSpc>
              <a:spcBef>
                <a:spcPct val="0"/>
              </a:spcBef>
            </a:pPr>
            <a:r>
              <a:rPr lang="en-US" b="true" sz="12037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Tech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7124" y="4527833"/>
            <a:ext cx="2289334" cy="75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Frontend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21002" y="4527833"/>
            <a:ext cx="2203252" cy="75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Backend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8960" y="4527833"/>
            <a:ext cx="4479539" cy="75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Data &amp; Retrieval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448" y="6056686"/>
            <a:ext cx="3962685" cy="138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OpenWebUI</a:t>
            </a:r>
          </a:p>
          <a:p>
            <a:pPr algn="l" marL="863608" indent="-431804" lvl="1">
              <a:lnSpc>
                <a:spcPts val="5556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HTML/CSS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39006" y="5723921"/>
            <a:ext cx="4378545" cy="279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Python</a:t>
            </a:r>
          </a:p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API integration (LLM APIs)</a:t>
            </a:r>
          </a:p>
          <a:p>
            <a:pPr algn="l">
              <a:lnSpc>
                <a:spcPts val="555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79245" y="5723921"/>
            <a:ext cx="3911862" cy="279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RAG </a:t>
            </a:r>
          </a:p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Qdra</a:t>
            </a: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nt</a:t>
            </a:r>
          </a:p>
          <a:p>
            <a:pPr algn="l" marL="863608" indent="-431804" lvl="1">
              <a:lnSpc>
                <a:spcPts val="5556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Embeddings</a:t>
            </a:r>
          </a:p>
          <a:p>
            <a:pPr algn="l">
              <a:lnSpc>
                <a:spcPts val="55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2084" y="5057775"/>
            <a:ext cx="9963831" cy="306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Imp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rove recommendation accuracy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Add machine learning models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Add voice interaction</a:t>
            </a:r>
          </a:p>
          <a:p>
            <a:pPr algn="l">
              <a:lnSpc>
                <a:spcPts val="611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170706" y="1256898"/>
            <a:ext cx="7946589" cy="203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76"/>
              </a:lnSpc>
              <a:spcBef>
                <a:spcPct val="0"/>
              </a:spcBef>
            </a:pPr>
            <a:r>
              <a:rPr lang="en-US" b="true" sz="11997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Next work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7B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8007" y="1166511"/>
            <a:ext cx="12071985" cy="171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2"/>
              </a:lnSpc>
              <a:spcBef>
                <a:spcPct val="0"/>
              </a:spcBef>
            </a:pPr>
            <a:r>
              <a:rPr lang="en-US" b="true" sz="10037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Future opportunities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77107" y="4214495"/>
            <a:ext cx="9333786" cy="383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Private accounts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Memory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P</a:t>
            </a: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ersonalization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Academic data (schedule, rooms)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AI tools for teachers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99193" y="4313604"/>
            <a:ext cx="7089613" cy="306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Loc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al LLM (on-premise)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No external API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S</a:t>
            </a: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ecure data integration</a:t>
            </a:r>
          </a:p>
          <a:p>
            <a:pPr algn="l" marL="949965" indent="-474983" lvl="1">
              <a:lnSpc>
                <a:spcPts val="6111"/>
              </a:lnSpc>
              <a:buFont typeface="Arial"/>
              <a:buChar char="•"/>
            </a:pPr>
            <a:r>
              <a:rPr lang="en-US" b="true" sz="4400">
                <a:solidFill>
                  <a:srgbClr val="7B2C29"/>
                </a:solidFill>
                <a:latin typeface="Fira Sans Heavy"/>
                <a:ea typeface="Fira Sans Heavy"/>
                <a:cs typeface="Fira Sans Heavy"/>
                <a:sym typeface="Fira Sans Heavy"/>
              </a:rPr>
              <a:t>Full privacy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72367" y="1197923"/>
            <a:ext cx="9943266" cy="170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99"/>
              </a:lnSpc>
              <a:spcBef>
                <a:spcPct val="0"/>
              </a:spcBef>
            </a:pPr>
            <a:r>
              <a:rPr lang="en-US" b="true" sz="9999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</a:t>
            </a:r>
            <a:r>
              <a:rPr lang="en-US" b="true" sz="9999">
                <a:solidFill>
                  <a:srgbClr val="7B2C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ocal AI System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257300"/>
            <a:ext cx="18288000" cy="12801600"/>
          </a:xfrm>
          <a:custGeom>
            <a:avLst/>
            <a:gdLst/>
            <a:ahLst/>
            <a:cxnLst/>
            <a:rect r="r" b="b" t="t" l="l"/>
            <a:pathLst>
              <a:path h="12801600" w="182880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000490" y="-4000490"/>
            <a:ext cx="10287000" cy="18287990"/>
          </a:xfrm>
          <a:custGeom>
            <a:avLst/>
            <a:gdLst/>
            <a:ahLst/>
            <a:cxnLst/>
            <a:rect r="r" b="b" t="t" l="l"/>
            <a:pathLst>
              <a:path h="18287990" w="10287000">
                <a:moveTo>
                  <a:pt x="0" y="0"/>
                </a:moveTo>
                <a:lnTo>
                  <a:pt x="10287000" y="0"/>
                </a:lnTo>
                <a:lnTo>
                  <a:pt x="10287000" y="18287990"/>
                </a:lnTo>
                <a:lnTo>
                  <a:pt x="0" y="1828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760" t="-301" r="-19572" b="-1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73468" y="3912265"/>
            <a:ext cx="8741064" cy="221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98"/>
              </a:lnSpc>
            </a:pPr>
            <a:r>
              <a:rPr lang="en-US" b="true" sz="12927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DAHC0QPoMBM</dc:identifier>
  <dcterms:modified xsi:type="dcterms:W3CDTF">2011-08-01T06:04:30Z</dcterms:modified>
  <cp:revision>1</cp:revision>
  <dc:title>Ala-Too GPT.pdf, копия</dc:title>
</cp:coreProperties>
</file>